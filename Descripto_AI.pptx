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c5edb13-42e2-99ac-2506-ad6ec607ea65}">
          <p14:sldIdLst>
            <p14:sldId id="256"/>
          </p14:sldIdLst>
        </p14:section>
        <p14:section name="The rename" id="{327b3a47-bfb8-cee5-0d96-70c56e6bc3fd}">
          <p14:sldIdLst>
            <p14:sldId id="257"/>
          </p14:sldIdLst>
        </p14:section>
        <p14:section name="The product" id="{3a592d86-61da-9b7e-e892-0ae2d81d3a71}">
          <p14:sldIdLst>
            <p14:sldId id="258"/>
            <p14:sldId id="259"/>
          </p14:sldIdLst>
        </p14:section>
        <p14:section name="Rollout" id="{4e7a30d6-5c41-85d7-c306-a067a053a8b6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new name, Descripto AI, and the tagline: Describe Smarter, Sell Better. Only the name changes; the product, scope and stack stay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 audience: nothing functional changes. The four tones, 50+ product batch, 160-character meta description and API surface all carry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capabilities. Stress grounded output (supplied facts only) and transparency about LLM versus fallback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request flows from the React UI to FastAPI, through validation, a grounded prompt and the LLM, then output checks before returning to the UI for preview and CSV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Everywhere the old name appears needs updating together. Folder name is a suggestion; confirm before renaming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 from the implementation plan, each with an exit criterion. The guiding principle is a working single-product flow and a dependable 50+ product CSV demo before anything advanced.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immediate next steps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508760"/>
            <a:ext cx="4480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788920"/>
            <a:ext cx="4297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Descripto 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TCS TECHNOLOGY DAY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508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Descripto AI</a:t>
            </a: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788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Describe Smarter, Sell Better</a:t>
            </a:r>
            <a:endParaRPr lang="en-US" sz="1800" dirty="0"/>
          </a:p>
        </p:txBody>
      </p:sp>
      <p:sp>
        <p:nvSpPr>
          <p:cNvPr id="5" name="badge-2"/>
          <p:cNvSpPr/>
          <p:nvPr/>
        </p:nvSpPr>
        <p:spPr>
          <a:xfrm>
            <a:off x="5486400" y="1188720"/>
            <a:ext cx="2651760" cy="2651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3" descr="Pe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057400"/>
            <a:ext cx="914400" cy="914400"/>
          </a:xfrm>
          <a:prstGeom prst="rect">
            <a:avLst/>
          </a:prstGeom>
        </p:spPr>
      </p:pic>
      <p:sp>
        <p:nvSpPr>
          <p:cNvPr id="7" name="badge-4"/>
          <p:cNvSpPr/>
          <p:nvPr/>
        </p:nvSpPr>
        <p:spPr>
          <a:xfrm>
            <a:off x="7406640" y="301752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con-5" descr="Searc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337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Same product, attractive descriptions</a:t>
            </a:r>
            <a:endParaRPr lang="en-US" sz="3600" dirty="0"/>
          </a:p>
        </p:txBody>
      </p:sp>
      <p:sp>
        <p:nvSpPr>
          <p:cNvPr id="3" name="card-6"/>
          <p:cNvSpPr/>
          <p:nvPr/>
        </p:nvSpPr>
        <p:spPr>
          <a:xfrm>
            <a:off x="457200" y="146304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tx1"/>
          </a:solidFill>
          <a:ln/>
        </p:spPr>
      </p:sp>
      <p:sp>
        <p:nvSpPr>
          <p:cNvPr id="4" name="text-7"/>
          <p:cNvSpPr txBox="1"/>
          <p:nvPr/>
        </p:nvSpPr>
        <p:spPr>
          <a:xfrm>
            <a:off x="640080" y="1600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4</a:t>
            </a:r>
            <a:endParaRPr lang="en-US" sz="5400" dirty="0"/>
          </a:p>
        </p:txBody>
      </p:sp>
      <p:sp>
        <p:nvSpPr>
          <p:cNvPr id="5" name="text-8"/>
          <p:cNvSpPr txBox="1"/>
          <p:nvPr/>
        </p:nvSpPr>
        <p:spPr>
          <a:xfrm>
            <a:off x="640080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writing tones</a:t>
            </a:r>
            <a:endParaRPr lang="en-US" sz="1400" dirty="0"/>
          </a:p>
        </p:txBody>
      </p:sp>
      <p:sp>
        <p:nvSpPr>
          <p:cNvPr id="6" name="text-9"/>
          <p:cNvSpPr txBox="1"/>
          <p:nvPr/>
        </p:nvSpPr>
        <p:spPr>
          <a:xfrm>
            <a:off x="640080" y="2926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Friendly, Professional, Premium, Minimal</a:t>
            </a:r>
            <a:endParaRPr lang="en-US" sz="1200" dirty="0"/>
          </a:p>
        </p:txBody>
      </p:sp>
      <p:sp>
        <p:nvSpPr>
          <p:cNvPr id="7" name="card-10"/>
          <p:cNvSpPr/>
          <p:nvPr/>
        </p:nvSpPr>
        <p:spPr>
          <a:xfrm>
            <a:off x="2578608" y="146304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8" name="text-11"/>
          <p:cNvSpPr txBox="1"/>
          <p:nvPr/>
        </p:nvSpPr>
        <p:spPr>
          <a:xfrm>
            <a:off x="2761488" y="1600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50+</a:t>
            </a:r>
            <a:endParaRPr lang="en-US" sz="5400" dirty="0"/>
          </a:p>
        </p:txBody>
      </p:sp>
      <p:sp>
        <p:nvSpPr>
          <p:cNvPr id="9" name="text-12"/>
          <p:cNvSpPr txBox="1"/>
          <p:nvPr/>
        </p:nvSpPr>
        <p:spPr>
          <a:xfrm>
            <a:off x="2761488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products per batch</a:t>
            </a:r>
            <a:endParaRPr lang="en-US" sz="1400" dirty="0"/>
          </a:p>
        </p:txBody>
      </p:sp>
      <p:sp>
        <p:nvSpPr>
          <p:cNvPr id="10" name="text-13"/>
          <p:cNvSpPr txBox="1"/>
          <p:nvPr/>
        </p:nvSpPr>
        <p:spPr>
          <a:xfrm>
            <a:off x="2761488" y="2926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Bulk CSV upload and export</a:t>
            </a:r>
            <a:endParaRPr lang="en-US" sz="1200" dirty="0"/>
          </a:p>
        </p:txBody>
      </p:sp>
      <p:sp>
        <p:nvSpPr>
          <p:cNvPr id="11" name="card-14"/>
          <p:cNvSpPr/>
          <p:nvPr/>
        </p:nvSpPr>
        <p:spPr>
          <a:xfrm>
            <a:off x="4700016" y="146304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2" name="text-15"/>
          <p:cNvSpPr txBox="1"/>
          <p:nvPr/>
        </p:nvSpPr>
        <p:spPr>
          <a:xfrm>
            <a:off x="4882896" y="1600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160</a:t>
            </a:r>
            <a:endParaRPr lang="en-US" sz="5400" dirty="0"/>
          </a:p>
        </p:txBody>
      </p:sp>
      <p:sp>
        <p:nvSpPr>
          <p:cNvPr id="13" name="text-16"/>
          <p:cNvSpPr txBox="1"/>
          <p:nvPr/>
        </p:nvSpPr>
        <p:spPr>
          <a:xfrm>
            <a:off x="4882896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meta characters</a:t>
            </a:r>
            <a:endParaRPr lang="en-US" sz="1400" dirty="0"/>
          </a:p>
        </p:txBody>
      </p:sp>
      <p:sp>
        <p:nvSpPr>
          <p:cNvPr id="14" name="text-17"/>
          <p:cNvSpPr txBox="1"/>
          <p:nvPr/>
        </p:nvSpPr>
        <p:spPr>
          <a:xfrm>
            <a:off x="4882896" y="2926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SEO meta description target</a:t>
            </a:r>
            <a:endParaRPr lang="en-US" sz="1200" dirty="0"/>
          </a:p>
        </p:txBody>
      </p:sp>
      <p:sp>
        <p:nvSpPr>
          <p:cNvPr id="15" name="card-18"/>
          <p:cNvSpPr/>
          <p:nvPr/>
        </p:nvSpPr>
        <p:spPr>
          <a:xfrm>
            <a:off x="6821424" y="1463040"/>
            <a:ext cx="1874520" cy="23774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</p:sp>
      <p:sp>
        <p:nvSpPr>
          <p:cNvPr id="16" name="text-19"/>
          <p:cNvSpPr txBox="1"/>
          <p:nvPr/>
        </p:nvSpPr>
        <p:spPr>
          <a:xfrm>
            <a:off x="7004304" y="16002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</a:t>
            </a:r>
            <a:endParaRPr lang="en-US" sz="5400" dirty="0"/>
          </a:p>
        </p:txBody>
      </p:sp>
      <p:sp>
        <p:nvSpPr>
          <p:cNvPr id="17" name="text-20"/>
          <p:cNvSpPr txBox="1"/>
          <p:nvPr/>
        </p:nvSpPr>
        <p:spPr>
          <a:xfrm>
            <a:off x="7004304" y="2514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 endpoints</a:t>
            </a:r>
            <a:endParaRPr lang="en-US" sz="1400" dirty="0"/>
          </a:p>
        </p:txBody>
      </p:sp>
      <p:sp>
        <p:nvSpPr>
          <p:cNvPr id="18" name="text-21"/>
          <p:cNvSpPr txBox="1"/>
          <p:nvPr/>
        </p:nvSpPr>
        <p:spPr>
          <a:xfrm>
            <a:off x="7004304" y="292608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/, /health, /generate, /generate-batch</a:t>
            </a:r>
            <a:endParaRPr lang="en-US" sz="1200" dirty="0"/>
          </a:p>
        </p:txBody>
      </p:sp>
      <p:sp>
        <p:nvSpPr>
          <p:cNvPr id="19" name="text-2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the name changes. Scope, stack and acceptance criteria carry over unchanged from the implementation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Descripto AI does</a:t>
            </a:r>
            <a:endParaRPr lang="en-US" sz="3600" dirty="0"/>
          </a:p>
        </p:txBody>
      </p:sp>
      <p:sp>
        <p:nvSpPr>
          <p:cNvPr id="3" name="card-23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badge-2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5" descr="Edit3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68780"/>
            <a:ext cx="228600" cy="228600"/>
          </a:xfrm>
          <a:prstGeom prst="rect">
            <a:avLst/>
          </a:prstGeom>
        </p:spPr>
      </p:pic>
      <p:sp>
        <p:nvSpPr>
          <p:cNvPr id="6" name="text-26"/>
          <p:cNvSpPr txBox="1"/>
          <p:nvPr/>
        </p:nvSpPr>
        <p:spPr>
          <a:xfrm>
            <a:off x="123444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Short + detailed copy</a:t>
            </a:r>
            <a:endParaRPr lang="en-US" sz="1500" dirty="0"/>
          </a:p>
        </p:txBody>
      </p:sp>
      <p:sp>
        <p:nvSpPr>
          <p:cNvPr id="7" name="text-27"/>
          <p:cNvSpPr txBox="1"/>
          <p:nvPr/>
        </p:nvSpPr>
        <p:spPr>
          <a:xfrm>
            <a:off x="64008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Two description lengths from structured attributes</a:t>
            </a:r>
            <a:endParaRPr lang="en-US" sz="1400" dirty="0"/>
          </a:p>
        </p:txBody>
      </p:sp>
      <p:sp>
        <p:nvSpPr>
          <p:cNvPr id="8" name="card-28"/>
          <p:cNvSpPr/>
          <p:nvPr/>
        </p:nvSpPr>
        <p:spPr>
          <a:xfrm>
            <a:off x="3268980" y="137160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badge-29"/>
          <p:cNvSpPr/>
          <p:nvPr/>
        </p:nvSpPr>
        <p:spPr>
          <a:xfrm>
            <a:off x="3451860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-30" descr="Slid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68780"/>
            <a:ext cx="228600" cy="228600"/>
          </a:xfrm>
          <a:prstGeom prst="rect">
            <a:avLst/>
          </a:prstGeom>
        </p:spPr>
      </p:pic>
      <p:sp>
        <p:nvSpPr>
          <p:cNvPr id="11" name="text-31"/>
          <p:cNvSpPr txBox="1"/>
          <p:nvPr/>
        </p:nvSpPr>
        <p:spPr>
          <a:xfrm>
            <a:off x="404622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Tone control</a:t>
            </a:r>
            <a:endParaRPr lang="en-US" sz="1500" dirty="0"/>
          </a:p>
        </p:txBody>
      </p:sp>
      <p:sp>
        <p:nvSpPr>
          <p:cNvPr id="12" name="text-32"/>
          <p:cNvSpPr txBox="1"/>
          <p:nvPr/>
        </p:nvSpPr>
        <p:spPr>
          <a:xfrm>
            <a:off x="345186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Friendly, Professional, Premium or Minimal</a:t>
            </a:r>
            <a:endParaRPr lang="en-US" sz="1400" dirty="0"/>
          </a:p>
        </p:txBody>
      </p:sp>
      <p:sp>
        <p:nvSpPr>
          <p:cNvPr id="13" name="card-33"/>
          <p:cNvSpPr/>
          <p:nvPr/>
        </p:nvSpPr>
        <p:spPr>
          <a:xfrm>
            <a:off x="6080760" y="137160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badge-34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35" descr="Sear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668780"/>
            <a:ext cx="228600" cy="228600"/>
          </a:xfrm>
          <a:prstGeom prst="rect">
            <a:avLst/>
          </a:prstGeom>
        </p:spPr>
      </p:pic>
      <p:sp>
        <p:nvSpPr>
          <p:cNvPr id="16" name="text-36"/>
          <p:cNvSpPr txBox="1"/>
          <p:nvPr/>
        </p:nvSpPr>
        <p:spPr>
          <a:xfrm>
            <a:off x="685800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SEO built in</a:t>
            </a:r>
            <a:endParaRPr lang="en-US" sz="1500" dirty="0"/>
          </a:p>
        </p:txBody>
      </p:sp>
      <p:sp>
        <p:nvSpPr>
          <p:cNvPr id="17" name="text-37"/>
          <p:cNvSpPr txBox="1"/>
          <p:nvPr/>
        </p:nvSpPr>
        <p:spPr>
          <a:xfrm>
            <a:off x="6263640" y="21488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Keywords and a meta description for each product</a:t>
            </a:r>
            <a:endParaRPr lang="en-US" sz="1400" dirty="0"/>
          </a:p>
        </p:txBody>
      </p:sp>
      <p:sp>
        <p:nvSpPr>
          <p:cNvPr id="18" name="card-38"/>
          <p:cNvSpPr/>
          <p:nvPr/>
        </p:nvSpPr>
        <p:spPr>
          <a:xfrm>
            <a:off x="457200" y="30175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badge-39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-40" descr="Uploa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14700"/>
            <a:ext cx="228600" cy="228600"/>
          </a:xfrm>
          <a:prstGeom prst="rect">
            <a:avLst/>
          </a:prstGeom>
        </p:spPr>
      </p:pic>
      <p:sp>
        <p:nvSpPr>
          <p:cNvPr id="21" name="text-41"/>
          <p:cNvSpPr txBox="1"/>
          <p:nvPr/>
        </p:nvSpPr>
        <p:spPr>
          <a:xfrm>
            <a:off x="123444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Bulk CSV</a:t>
            </a:r>
            <a:endParaRPr lang="en-US" sz="1500" dirty="0"/>
          </a:p>
        </p:txBody>
      </p:sp>
      <p:sp>
        <p:nvSpPr>
          <p:cNvPr id="22" name="text-42"/>
          <p:cNvSpPr txBox="1"/>
          <p:nvPr/>
        </p:nvSpPr>
        <p:spPr>
          <a:xfrm>
            <a:off x="64008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Upload 50+ products and export results as CSV</a:t>
            </a:r>
            <a:endParaRPr lang="en-US" sz="1400" dirty="0"/>
          </a:p>
        </p:txBody>
      </p:sp>
      <p:sp>
        <p:nvSpPr>
          <p:cNvPr id="23" name="card-43"/>
          <p:cNvSpPr/>
          <p:nvPr/>
        </p:nvSpPr>
        <p:spPr>
          <a:xfrm>
            <a:off x="3268980" y="30175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4" name="badge-44"/>
          <p:cNvSpPr/>
          <p:nvPr/>
        </p:nvSpPr>
        <p:spPr>
          <a:xfrm>
            <a:off x="345186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45" descr="Shiel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14700"/>
            <a:ext cx="228600" cy="228600"/>
          </a:xfrm>
          <a:prstGeom prst="rect">
            <a:avLst/>
          </a:prstGeom>
        </p:spPr>
      </p:pic>
      <p:sp>
        <p:nvSpPr>
          <p:cNvPr id="26" name="text-46"/>
          <p:cNvSpPr txBox="1"/>
          <p:nvPr/>
        </p:nvSpPr>
        <p:spPr>
          <a:xfrm>
            <a:off x="404622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Grounded output</a:t>
            </a:r>
            <a:endParaRPr lang="en-US" sz="1500" dirty="0"/>
          </a:p>
        </p:txBody>
      </p:sp>
      <p:sp>
        <p:nvSpPr>
          <p:cNvPr id="27" name="text-47"/>
          <p:cNvSpPr txBox="1"/>
          <p:nvPr/>
        </p:nvSpPr>
        <p:spPr>
          <a:xfrm>
            <a:off x="345186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Uses supplied facts only; no invented claims</a:t>
            </a:r>
            <a:endParaRPr lang="en-US" sz="1400" dirty="0"/>
          </a:p>
        </p:txBody>
      </p:sp>
      <p:sp>
        <p:nvSpPr>
          <p:cNvPr id="28" name="card-48"/>
          <p:cNvSpPr/>
          <p:nvPr/>
        </p:nvSpPr>
        <p:spPr>
          <a:xfrm>
            <a:off x="6080760" y="3017520"/>
            <a:ext cx="26060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badge-49"/>
          <p:cNvSpPr/>
          <p:nvPr/>
        </p:nvSpPr>
        <p:spPr>
          <a:xfrm>
            <a:off x="6263640" y="32004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con-50" descr="Ey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3314700"/>
            <a:ext cx="228600" cy="228600"/>
          </a:xfrm>
          <a:prstGeom prst="rect">
            <a:avLst/>
          </a:prstGeom>
        </p:spPr>
      </p:pic>
      <p:sp>
        <p:nvSpPr>
          <p:cNvPr id="31" name="text-51"/>
          <p:cNvSpPr txBox="1"/>
          <p:nvPr/>
        </p:nvSpPr>
        <p:spPr>
          <a:xfrm>
            <a:off x="6858000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Transparent mode</a:t>
            </a:r>
            <a:endParaRPr lang="en-US" sz="1500" dirty="0"/>
          </a:p>
        </p:txBody>
      </p:sp>
      <p:sp>
        <p:nvSpPr>
          <p:cNvPr id="32" name="text-52"/>
          <p:cNvSpPr txBox="1"/>
          <p:nvPr/>
        </p:nvSpPr>
        <p:spPr>
          <a:xfrm>
            <a:off x="6263640" y="3794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Labels real LLM output versus demo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card-53"/>
          <p:cNvSpPr/>
          <p:nvPr/>
        </p:nvSpPr>
        <p:spPr>
          <a:xfrm>
            <a:off x="457200" y="1371600"/>
            <a:ext cx="1417320" cy="19202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4" name="badge-54"/>
          <p:cNvSpPr/>
          <p:nvPr/>
        </p:nvSpPr>
        <p:spPr>
          <a:xfrm>
            <a:off x="8915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55" descr="Monito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691640"/>
            <a:ext cx="274320" cy="274320"/>
          </a:xfrm>
          <a:prstGeom prst="rect">
            <a:avLst/>
          </a:prstGeom>
        </p:spPr>
      </p:pic>
      <p:sp>
        <p:nvSpPr>
          <p:cNvPr id="6" name="text-56"/>
          <p:cNvSpPr txBox="1"/>
          <p:nvPr/>
        </p:nvSpPr>
        <p:spPr>
          <a:xfrm>
            <a:off x="548640" y="2240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React + Vite</a:t>
            </a:r>
            <a:endParaRPr lang="en-US" sz="1400" dirty="0"/>
          </a:p>
        </p:txBody>
      </p:sp>
      <p:sp>
        <p:nvSpPr>
          <p:cNvPr id="7" name="text-57"/>
          <p:cNvSpPr txBox="1"/>
          <p:nvPr/>
        </p:nvSpPr>
        <p:spPr>
          <a:xfrm>
            <a:off x="566928" y="26060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Product form, CSV upload, preview</a:t>
            </a:r>
            <a:endParaRPr lang="en-US" sz="1200" dirty="0"/>
          </a:p>
        </p:txBody>
      </p:sp>
      <p:pic>
        <p:nvPicPr>
          <p:cNvPr id="8" name="icon-58" descr="Next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176272"/>
            <a:ext cx="283464" cy="283464"/>
          </a:xfrm>
          <a:prstGeom prst="rect">
            <a:avLst/>
          </a:prstGeom>
        </p:spPr>
      </p:pic>
      <p:sp>
        <p:nvSpPr>
          <p:cNvPr id="9" name="card-59"/>
          <p:cNvSpPr/>
          <p:nvPr/>
        </p:nvSpPr>
        <p:spPr>
          <a:xfrm>
            <a:off x="2157984" y="1371600"/>
            <a:ext cx="1417320" cy="19202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badge-60"/>
          <p:cNvSpPr/>
          <p:nvPr/>
        </p:nvSpPr>
        <p:spPr>
          <a:xfrm>
            <a:off x="2592324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con-61" descr="Serv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484" y="1691640"/>
            <a:ext cx="274320" cy="274320"/>
          </a:xfrm>
          <a:prstGeom prst="rect">
            <a:avLst/>
          </a:prstGeom>
        </p:spPr>
      </p:pic>
      <p:sp>
        <p:nvSpPr>
          <p:cNvPr id="12" name="text-62"/>
          <p:cNvSpPr txBox="1"/>
          <p:nvPr/>
        </p:nvSpPr>
        <p:spPr>
          <a:xfrm>
            <a:off x="2249424" y="2240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FastAPI</a:t>
            </a:r>
            <a:endParaRPr lang="en-US" sz="1400" dirty="0"/>
          </a:p>
        </p:txBody>
      </p:sp>
      <p:sp>
        <p:nvSpPr>
          <p:cNvPr id="13" name="text-63"/>
          <p:cNvSpPr txBox="1"/>
          <p:nvPr/>
        </p:nvSpPr>
        <p:spPr>
          <a:xfrm>
            <a:off x="2267712" y="26060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REST endpoints and upload limits</a:t>
            </a:r>
            <a:endParaRPr lang="en-US" sz="1200" dirty="0"/>
          </a:p>
        </p:txBody>
      </p:sp>
      <p:pic>
        <p:nvPicPr>
          <p:cNvPr id="14" name="icon-64" descr="Next ste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2176272"/>
            <a:ext cx="283464" cy="283464"/>
          </a:xfrm>
          <a:prstGeom prst="rect">
            <a:avLst/>
          </a:prstGeom>
        </p:spPr>
      </p:pic>
      <p:sp>
        <p:nvSpPr>
          <p:cNvPr id="15" name="card-65"/>
          <p:cNvSpPr/>
          <p:nvPr/>
        </p:nvSpPr>
        <p:spPr>
          <a:xfrm>
            <a:off x="3858768" y="1371600"/>
            <a:ext cx="1417320" cy="19202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6" name="badge-66"/>
          <p:cNvSpPr/>
          <p:nvPr/>
        </p:nvSpPr>
        <p:spPr>
          <a:xfrm>
            <a:off x="429310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67" descr="CheckSqua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268" y="1691640"/>
            <a:ext cx="274320" cy="274320"/>
          </a:xfrm>
          <a:prstGeom prst="rect">
            <a:avLst/>
          </a:prstGeom>
        </p:spPr>
      </p:pic>
      <p:sp>
        <p:nvSpPr>
          <p:cNvPr id="18" name="text-68"/>
          <p:cNvSpPr txBox="1"/>
          <p:nvPr/>
        </p:nvSpPr>
        <p:spPr>
          <a:xfrm>
            <a:off x="3950208" y="2240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19" name="text-69"/>
          <p:cNvSpPr txBox="1"/>
          <p:nvPr/>
        </p:nvSpPr>
        <p:spPr>
          <a:xfrm>
            <a:off x="3968496" y="26060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Pydantic checks on every field</a:t>
            </a:r>
            <a:endParaRPr lang="en-US" sz="1200" dirty="0"/>
          </a:p>
        </p:txBody>
      </p:sp>
      <p:pic>
        <p:nvPicPr>
          <p:cNvPr id="20" name="icon-70" descr="Next st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2176272"/>
            <a:ext cx="283464" cy="283464"/>
          </a:xfrm>
          <a:prstGeom prst="rect">
            <a:avLst/>
          </a:prstGeom>
        </p:spPr>
      </p:pic>
      <p:sp>
        <p:nvSpPr>
          <p:cNvPr id="21" name="card-71"/>
          <p:cNvSpPr/>
          <p:nvPr/>
        </p:nvSpPr>
        <p:spPr>
          <a:xfrm>
            <a:off x="5559552" y="1371600"/>
            <a:ext cx="1417320" cy="19202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2" name="badge-72"/>
          <p:cNvSpPr/>
          <p:nvPr/>
        </p:nvSpPr>
        <p:spPr>
          <a:xfrm>
            <a:off x="5993892" y="15544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con-73" descr="Za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052" y="1691640"/>
            <a:ext cx="274320" cy="274320"/>
          </a:xfrm>
          <a:prstGeom prst="rect">
            <a:avLst/>
          </a:prstGeom>
        </p:spPr>
      </p:pic>
      <p:sp>
        <p:nvSpPr>
          <p:cNvPr id="24" name="text-74"/>
          <p:cNvSpPr txBox="1"/>
          <p:nvPr/>
        </p:nvSpPr>
        <p:spPr>
          <a:xfrm>
            <a:off x="5650992" y="2240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Prompt + LLM</a:t>
            </a:r>
            <a:endParaRPr lang="en-US" sz="1400" dirty="0"/>
          </a:p>
        </p:txBody>
      </p:sp>
      <p:sp>
        <p:nvSpPr>
          <p:cNvPr id="25" name="text-75"/>
          <p:cNvSpPr txBox="1"/>
          <p:nvPr/>
        </p:nvSpPr>
        <p:spPr>
          <a:xfrm>
            <a:off x="5669280" y="26060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Grounded prompt to the provider API</a:t>
            </a:r>
            <a:endParaRPr lang="en-US" sz="1200" dirty="0"/>
          </a:p>
        </p:txBody>
      </p:sp>
      <p:pic>
        <p:nvPicPr>
          <p:cNvPr id="26" name="icon-76" descr="Next ste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2" y="2176272"/>
            <a:ext cx="283464" cy="283464"/>
          </a:xfrm>
          <a:prstGeom prst="rect">
            <a:avLst/>
          </a:prstGeom>
        </p:spPr>
      </p:pic>
      <p:sp>
        <p:nvSpPr>
          <p:cNvPr id="27" name="card-77"/>
          <p:cNvSpPr/>
          <p:nvPr/>
        </p:nvSpPr>
        <p:spPr>
          <a:xfrm>
            <a:off x="7260336" y="1371600"/>
            <a:ext cx="1417320" cy="192024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8" name="badge-78"/>
          <p:cNvSpPr/>
          <p:nvPr/>
        </p:nvSpPr>
        <p:spPr>
          <a:xfrm>
            <a:off x="7694676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icon-79" descr="FileTex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836" y="1691640"/>
            <a:ext cx="274320" cy="274320"/>
          </a:xfrm>
          <a:prstGeom prst="rect">
            <a:avLst/>
          </a:prstGeom>
        </p:spPr>
      </p:pic>
      <p:sp>
        <p:nvSpPr>
          <p:cNvPr id="30" name="text-80"/>
          <p:cNvSpPr txBox="1"/>
          <p:nvPr/>
        </p:nvSpPr>
        <p:spPr>
          <a:xfrm>
            <a:off x="7351776" y="22402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 checks</a:t>
            </a:r>
            <a:endParaRPr lang="en-US" sz="1400" dirty="0"/>
          </a:p>
        </p:txBody>
      </p:sp>
      <p:sp>
        <p:nvSpPr>
          <p:cNvPr id="31" name="text-81"/>
          <p:cNvSpPr txBox="1"/>
          <p:nvPr/>
        </p:nvSpPr>
        <p:spPr>
          <a:xfrm>
            <a:off x="7370064" y="2606040"/>
            <a:ext cx="1197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Parse, normalize and flag issues</a:t>
            </a:r>
            <a:endParaRPr lang="en-US" sz="1200" dirty="0"/>
          </a:p>
        </p:txBody>
      </p:sp>
      <p:sp>
        <p:nvSpPr>
          <p:cNvPr id="32" name="card-82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33" name="badge-83"/>
          <p:cNvSpPr/>
          <p:nvPr/>
        </p:nvSpPr>
        <p:spPr>
          <a:xfrm>
            <a:off x="685800" y="3813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con-84" descr="Lock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3927348"/>
            <a:ext cx="228600" cy="228600"/>
          </a:xfrm>
          <a:prstGeom prst="rect">
            <a:avLst/>
          </a:prstGeom>
        </p:spPr>
      </p:pic>
      <p:sp>
        <p:nvSpPr>
          <p:cNvPr id="35" name="text-85"/>
          <p:cNvSpPr txBox="1"/>
          <p:nvPr/>
        </p:nvSpPr>
        <p:spPr>
          <a:xfrm>
            <a:off x="132588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keys stay on the backend</a:t>
            </a:r>
            <a:endParaRPr lang="en-US" sz="1400" dirty="0"/>
          </a:p>
        </p:txBody>
      </p:sp>
      <p:sp>
        <p:nvSpPr>
          <p:cNvPr id="36" name="text-86"/>
          <p:cNvSpPr txBox="1"/>
          <p:nvPr/>
        </p:nvSpPr>
        <p:spPr>
          <a:xfrm>
            <a:off x="132588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Provider calls run from FastAPI, never from browser code.</a:t>
            </a:r>
            <a:endParaRPr lang="en-US" sz="1200" dirty="0"/>
          </a:p>
        </p:txBody>
      </p:sp>
      <p:sp>
        <p:nvSpPr>
          <p:cNvPr id="37" name="card-87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38" name="badge-88"/>
          <p:cNvSpPr/>
          <p:nvPr/>
        </p:nvSpPr>
        <p:spPr>
          <a:xfrm>
            <a:off x="4892040" y="3813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icon-89" descr="AlertTriangl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6340" y="3927348"/>
            <a:ext cx="228600" cy="228600"/>
          </a:xfrm>
          <a:prstGeom prst="rect">
            <a:avLst/>
          </a:prstGeom>
        </p:spPr>
      </p:pic>
      <p:sp>
        <p:nvSpPr>
          <p:cNvPr id="40" name="text-90"/>
          <p:cNvSpPr txBox="1"/>
          <p:nvPr/>
        </p:nvSpPr>
        <p:spPr>
          <a:xfrm>
            <a:off x="553212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Failures are never hidden</a:t>
            </a:r>
            <a:endParaRPr lang="en-US" sz="1400" dirty="0"/>
          </a:p>
        </p:txBody>
      </p:sp>
      <p:sp>
        <p:nvSpPr>
          <p:cNvPr id="41" name="text-91"/>
          <p:cNvSpPr txBox="1"/>
          <p:nvPr/>
        </p:nvSpPr>
        <p:spPr>
          <a:xfrm>
            <a:off x="5532120" y="39959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 failed AI request is reported, not shown as a success.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Rename rollout checklist</a:t>
            </a:r>
            <a:endParaRPr lang="en-US" sz="3600" dirty="0"/>
          </a:p>
        </p:txBody>
      </p:sp>
      <p:sp>
        <p:nvSpPr>
          <p:cNvPr id="3" name="badge-9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93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82880" cy="182880"/>
          </a:xfrm>
          <a:prstGeom prst="rect">
            <a:avLst/>
          </a:prstGeom>
        </p:spPr>
      </p:pic>
      <p:sp>
        <p:nvSpPr>
          <p:cNvPr id="5" name="text-94"/>
          <p:cNvSpPr txBox="1"/>
          <p:nvPr/>
        </p:nvSpPr>
        <p:spPr>
          <a:xfrm>
            <a:off x="100584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Repository name and README title</a:t>
            </a:r>
            <a:endParaRPr lang="en-US" sz="1500" dirty="0"/>
          </a:p>
        </p:txBody>
      </p:sp>
      <p:sp>
        <p:nvSpPr>
          <p:cNvPr id="6" name="badge-95"/>
          <p:cNvSpPr/>
          <p:nvPr/>
        </p:nvSpPr>
        <p:spPr>
          <a:xfrm>
            <a:off x="457200" y="19019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96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3392"/>
            <a:ext cx="182880" cy="182880"/>
          </a:xfrm>
          <a:prstGeom prst="rect">
            <a:avLst/>
          </a:prstGeom>
        </p:spPr>
      </p:pic>
      <p:sp>
        <p:nvSpPr>
          <p:cNvPr id="8" name="text-97"/>
          <p:cNvSpPr txBox="1"/>
          <p:nvPr/>
        </p:nvSpPr>
        <p:spPr>
          <a:xfrm>
            <a:off x="100584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UI header and browser tab title</a:t>
            </a:r>
            <a:endParaRPr lang="en-US" sz="1500" dirty="0"/>
          </a:p>
        </p:txBody>
      </p:sp>
      <p:sp>
        <p:nvSpPr>
          <p:cNvPr id="9" name="badge-98"/>
          <p:cNvSpPr/>
          <p:nvPr/>
        </p:nvSpPr>
        <p:spPr>
          <a:xfrm>
            <a:off x="457200" y="243230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99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23744"/>
            <a:ext cx="182880" cy="182880"/>
          </a:xfrm>
          <a:prstGeom prst="rect">
            <a:avLst/>
          </a:prstGeom>
        </p:spPr>
      </p:pic>
      <p:sp>
        <p:nvSpPr>
          <p:cNvPr id="11" name="text-100"/>
          <p:cNvSpPr txBox="1"/>
          <p:nvPr/>
        </p:nvSpPr>
        <p:spPr>
          <a:xfrm>
            <a:off x="1005840" y="2432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FastAPI docs title and welcome text</a:t>
            </a:r>
            <a:endParaRPr lang="en-US" sz="1500" dirty="0"/>
          </a:p>
        </p:txBody>
      </p:sp>
      <p:sp>
        <p:nvSpPr>
          <p:cNvPr id="12" name="badge-101"/>
          <p:cNvSpPr/>
          <p:nvPr/>
        </p:nvSpPr>
        <p:spPr>
          <a:xfrm>
            <a:off x="457200" y="296265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102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54096"/>
            <a:ext cx="182880" cy="182880"/>
          </a:xfrm>
          <a:prstGeom prst="rect">
            <a:avLst/>
          </a:prstGeom>
        </p:spPr>
      </p:pic>
      <p:sp>
        <p:nvSpPr>
          <p:cNvPr id="14" name="text-103"/>
          <p:cNvSpPr txBox="1"/>
          <p:nvPr/>
        </p:nvSpPr>
        <p:spPr>
          <a:xfrm>
            <a:off x="1005840" y="2962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package.json and Python metadata</a:t>
            </a:r>
            <a:endParaRPr lang="en-US" sz="1500" dirty="0"/>
          </a:p>
        </p:txBody>
      </p:sp>
      <p:sp>
        <p:nvSpPr>
          <p:cNvPr id="15" name="badge-104"/>
          <p:cNvSpPr/>
          <p:nvPr/>
        </p:nvSpPr>
        <p:spPr>
          <a:xfrm>
            <a:off x="457200" y="349300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105" descr="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84448"/>
            <a:ext cx="182880" cy="182880"/>
          </a:xfrm>
          <a:prstGeom prst="rect">
            <a:avLst/>
          </a:prstGeom>
        </p:spPr>
      </p:pic>
      <p:sp>
        <p:nvSpPr>
          <p:cNvPr id="17" name="text-106"/>
          <p:cNvSpPr txBox="1"/>
          <p:nvPr/>
        </p:nvSpPr>
        <p:spPr>
          <a:xfrm>
            <a:off x="1005840" y="34930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Docs: data README and evaluation.md</a:t>
            </a:r>
            <a:endParaRPr lang="en-US" sz="1500" dirty="0"/>
          </a:p>
        </p:txBody>
      </p:sp>
      <p:sp>
        <p:nvSpPr>
          <p:cNvPr id="18" name="badge-107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108" descr="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114800"/>
            <a:ext cx="182880" cy="182880"/>
          </a:xfrm>
          <a:prstGeom prst="rect">
            <a:avLst/>
          </a:prstGeom>
        </p:spPr>
      </p:pic>
      <p:sp>
        <p:nvSpPr>
          <p:cNvPr id="20" name="text-109"/>
          <p:cNvSpPr txBox="1"/>
          <p:nvPr/>
        </p:nvSpPr>
        <p:spPr>
          <a:xfrm>
            <a:off x="1005840" y="4023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Demo slides and screenshots</a:t>
            </a:r>
            <a:endParaRPr lang="en-US" sz="1500" dirty="0"/>
          </a:p>
        </p:txBody>
      </p:sp>
      <p:sp>
        <p:nvSpPr>
          <p:cNvPr id="21" name="card-110"/>
          <p:cNvSpPr/>
          <p:nvPr/>
        </p:nvSpPr>
        <p:spPr>
          <a:xfrm>
            <a:off x="5394960" y="137160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22" name="text-111"/>
          <p:cNvSpPr txBox="1"/>
          <p:nvPr/>
        </p:nvSpPr>
        <p:spPr>
          <a:xfrm>
            <a:off x="5623560" y="1600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SUGGESTED REPO FOLDER</a:t>
            </a:r>
            <a:endParaRPr lang="en-US" sz="1100" dirty="0"/>
          </a:p>
        </p:txBody>
      </p:sp>
      <p:sp>
        <p:nvSpPr>
          <p:cNvPr id="23" name="text-112"/>
          <p:cNvSpPr txBox="1"/>
          <p:nvPr/>
        </p:nvSpPr>
        <p:spPr>
          <a:xfrm>
            <a:off x="5623560" y="2011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retail-product-</a:t>
            </a:r>
            <a:endParaRPr lang="en-US" sz="1400" dirty="0"/>
          </a:p>
          <a:p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description-generator/</a:t>
            </a:r>
            <a:endParaRPr lang="en-US" sz="1400" dirty="0"/>
          </a:p>
        </p:txBody>
      </p:sp>
      <p:pic>
        <p:nvPicPr>
          <p:cNvPr id="24" name="icon-113" descr="Arrow pointing d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2834640"/>
            <a:ext cx="365760" cy="365760"/>
          </a:xfrm>
          <a:prstGeom prst="rect">
            <a:avLst/>
          </a:prstGeom>
        </p:spPr>
      </p:pic>
      <p:sp>
        <p:nvSpPr>
          <p:cNvPr id="25" name="text-114"/>
          <p:cNvSpPr txBox="1"/>
          <p:nvPr/>
        </p:nvSpPr>
        <p:spPr>
          <a:xfrm>
            <a:off x="562356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descripto-ai/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Roadmap to the demo</a:t>
            </a:r>
            <a:endParaRPr lang="en-US" sz="3600" dirty="0"/>
          </a:p>
        </p:txBody>
      </p:sp>
      <p:sp>
        <p:nvSpPr>
          <p:cNvPr id="3" name="card-115"/>
          <p:cNvSpPr/>
          <p:nvPr/>
        </p:nvSpPr>
        <p:spPr>
          <a:xfrm>
            <a:off x="457200" y="1371600"/>
            <a:ext cx="1920240" cy="2423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badge-116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-117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-118"/>
          <p:cNvSpPr txBox="1"/>
          <p:nvPr/>
        </p:nvSpPr>
        <p:spPr>
          <a:xfrm>
            <a:off x="68580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Core workflow</a:t>
            </a:r>
            <a:endParaRPr lang="en-US" sz="1600" dirty="0"/>
          </a:p>
        </p:txBody>
      </p:sp>
      <p:sp>
        <p:nvSpPr>
          <p:cNvPr id="7" name="text-119"/>
          <p:cNvSpPr txBox="1"/>
          <p:nvPr/>
        </p:nvSpPr>
        <p:spPr>
          <a:xfrm>
            <a:off x="68580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User submits a product and sees every generated field</a:t>
            </a:r>
            <a:endParaRPr lang="en-US" sz="1400" dirty="0"/>
          </a:p>
        </p:txBody>
      </p:sp>
      <p:sp>
        <p:nvSpPr>
          <p:cNvPr id="8" name="card-120"/>
          <p:cNvSpPr/>
          <p:nvPr/>
        </p:nvSpPr>
        <p:spPr>
          <a:xfrm>
            <a:off x="2560320" y="1371600"/>
            <a:ext cx="1920240" cy="2423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badge-121"/>
          <p:cNvSpPr/>
          <p:nvPr/>
        </p:nvSpPr>
        <p:spPr>
          <a:xfrm>
            <a:off x="2788920" y="1600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-122"/>
          <p:cNvSpPr txBox="1"/>
          <p:nvPr/>
        </p:nvSpPr>
        <p:spPr>
          <a:xfrm>
            <a:off x="27889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-123"/>
          <p:cNvSpPr txBox="1"/>
          <p:nvPr/>
        </p:nvSpPr>
        <p:spPr>
          <a:xfrm>
            <a:off x="278892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LLM integration</a:t>
            </a:r>
            <a:endParaRPr lang="en-US" sz="1600" dirty="0"/>
          </a:p>
        </p:txBody>
      </p:sp>
      <p:sp>
        <p:nvSpPr>
          <p:cNvPr id="12" name="text-124"/>
          <p:cNvSpPr txBox="1"/>
          <p:nvPr/>
        </p:nvSpPr>
        <p:spPr>
          <a:xfrm>
            <a:off x="278892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Real LLM response shown; fallback clearly labelled</a:t>
            </a:r>
            <a:endParaRPr lang="en-US" sz="1400" dirty="0"/>
          </a:p>
        </p:txBody>
      </p:sp>
      <p:sp>
        <p:nvSpPr>
          <p:cNvPr id="13" name="card-125"/>
          <p:cNvSpPr/>
          <p:nvPr/>
        </p:nvSpPr>
        <p:spPr>
          <a:xfrm>
            <a:off x="4663440" y="1371600"/>
            <a:ext cx="1920240" cy="2423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badge-126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-127"/>
          <p:cNvSpPr txBox="1"/>
          <p:nvPr/>
        </p:nvSpPr>
        <p:spPr>
          <a:xfrm>
            <a:off x="4892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-128"/>
          <p:cNvSpPr txBox="1"/>
          <p:nvPr/>
        </p:nvSpPr>
        <p:spPr>
          <a:xfrm>
            <a:off x="48920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Bulk CSV</a:t>
            </a:r>
            <a:endParaRPr lang="en-US" sz="1600" dirty="0"/>
          </a:p>
        </p:txBody>
      </p:sp>
      <p:sp>
        <p:nvSpPr>
          <p:cNvPr id="17" name="text-129"/>
          <p:cNvSpPr txBox="1"/>
          <p:nvPr/>
        </p:nvSpPr>
        <p:spPr>
          <a:xfrm>
            <a:off x="489204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50+ products processed and downloaded</a:t>
            </a:r>
            <a:endParaRPr lang="en-US" sz="1400" dirty="0"/>
          </a:p>
        </p:txBody>
      </p:sp>
      <p:sp>
        <p:nvSpPr>
          <p:cNvPr id="18" name="card-130"/>
          <p:cNvSpPr/>
          <p:nvPr/>
        </p:nvSpPr>
        <p:spPr>
          <a:xfrm>
            <a:off x="6766560" y="1371600"/>
            <a:ext cx="1920240" cy="2423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badge-131"/>
          <p:cNvSpPr/>
          <p:nvPr/>
        </p:nvSpPr>
        <p:spPr>
          <a:xfrm>
            <a:off x="69951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-132"/>
          <p:cNvSpPr txBox="1"/>
          <p:nvPr/>
        </p:nvSpPr>
        <p:spPr>
          <a:xfrm>
            <a:off x="6995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-133"/>
          <p:cNvSpPr txBox="1"/>
          <p:nvPr/>
        </p:nvSpPr>
        <p:spPr>
          <a:xfrm>
            <a:off x="699516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Quality check</a:t>
            </a:r>
            <a:endParaRPr lang="en-US" sz="1600" dirty="0"/>
          </a:p>
        </p:txBody>
      </p:sp>
      <p:sp>
        <p:nvSpPr>
          <p:cNvPr id="22" name="text-134"/>
          <p:cNvSpPr txBox="1"/>
          <p:nvPr/>
        </p:nvSpPr>
        <p:spPr>
          <a:xfrm>
            <a:off x="6995160" y="26974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Evidence captured; no unsupported claims</a:t>
            </a:r>
            <a:endParaRPr lang="en-US" sz="1400" dirty="0"/>
          </a:p>
        </p:txBody>
      </p:sp>
      <p:sp>
        <p:nvSpPr>
          <p:cNvPr id="23" name="card-135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tx1"/>
          </a:solidFill>
          <a:ln/>
        </p:spPr>
      </p:sp>
      <p:sp>
        <p:nvSpPr>
          <p:cNvPr id="24" name="text-136"/>
          <p:cNvSpPr txBox="1"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Principle: build the smallest reliable end-to-end solution 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508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Descripto AI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788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Describe every product, at any scale</a:t>
            </a:r>
            <a:endParaRPr lang="en-US" sz="1800" dirty="0"/>
          </a:p>
        </p:txBody>
      </p:sp>
      <p:sp>
        <p:nvSpPr>
          <p:cNvPr id="4" name="text-137"/>
          <p:cNvSpPr txBox="1"/>
          <p:nvPr/>
        </p:nvSpPr>
        <p:spPr>
          <a:xfrm>
            <a:off x="512064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5" name="card-138"/>
          <p:cNvSpPr/>
          <p:nvPr/>
        </p:nvSpPr>
        <p:spPr>
          <a:xfrm>
            <a:off x="5120640" y="150876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6" name="badge-139"/>
          <p:cNvSpPr/>
          <p:nvPr/>
        </p:nvSpPr>
        <p:spPr>
          <a:xfrm>
            <a:off x="5303520" y="17099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-140"/>
          <p:cNvSpPr txBox="1"/>
          <p:nvPr/>
        </p:nvSpPr>
        <p:spPr>
          <a:xfrm>
            <a:off x="5303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-141"/>
          <p:cNvSpPr txBox="1"/>
          <p:nvPr/>
        </p:nvSpPr>
        <p:spPr>
          <a:xfrm>
            <a:off x="5943600" y="15087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Apply the rename across repo, UI and docs</a:t>
            </a:r>
            <a:endParaRPr lang="en-US" sz="1400" dirty="0"/>
          </a:p>
        </p:txBody>
      </p:sp>
      <p:sp>
        <p:nvSpPr>
          <p:cNvPr id="9" name="card-142"/>
          <p:cNvSpPr/>
          <p:nvPr/>
        </p:nvSpPr>
        <p:spPr>
          <a:xfrm>
            <a:off x="5120640" y="25603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0" name="badge-143"/>
          <p:cNvSpPr/>
          <p:nvPr/>
        </p:nvSpPr>
        <p:spPr>
          <a:xfrm>
            <a:off x="5303520" y="27614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-144"/>
          <p:cNvSpPr txBox="1"/>
          <p:nvPr/>
        </p:nvSpPr>
        <p:spPr>
          <a:xfrm>
            <a:off x="530352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145"/>
          <p:cNvSpPr txBox="1"/>
          <p:nvPr/>
        </p:nvSpPr>
        <p:spPr>
          <a:xfrm>
            <a:off x="5943600" y="256032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Finalize the 50+ product demo dataset</a:t>
            </a:r>
            <a:endParaRPr lang="en-US" sz="1400" dirty="0"/>
          </a:p>
        </p:txBody>
      </p:sp>
      <p:sp>
        <p:nvSpPr>
          <p:cNvPr id="13" name="card-146"/>
          <p:cNvSpPr/>
          <p:nvPr/>
        </p:nvSpPr>
        <p:spPr>
          <a:xfrm>
            <a:off x="5120640" y="36118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4" name="badge-147"/>
          <p:cNvSpPr/>
          <p:nvPr/>
        </p:nvSpPr>
        <p:spPr>
          <a:xfrm>
            <a:off x="5303520" y="3813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-148"/>
          <p:cNvSpPr txBox="1"/>
          <p:nvPr/>
        </p:nvSpPr>
        <p:spPr>
          <a:xfrm>
            <a:off x="53035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-149"/>
          <p:cNvSpPr txBox="1"/>
          <p:nvPr/>
        </p:nvSpPr>
        <p:spPr>
          <a:xfrm>
            <a:off x="5943600" y="36118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Rehearse the single-product and batch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cripto AI">
  <a:themeElements>
    <a:clrScheme name="Descripto AI">
      <a:dk1>
        <a:srgbClr val="1B1F3B"/>
      </a:dk1>
      <a:lt1>
        <a:srgbClr val="FFFFFF"/>
      </a:lt1>
      <a:dk2>
        <a:srgbClr val="2B3070"/>
      </a:dk2>
      <a:lt2>
        <a:srgbClr val="F3F4FA"/>
      </a:lt2>
      <a:accent1>
        <a:srgbClr val="E8503F"/>
      </a:accent1>
      <a:accent2>
        <a:srgbClr val="2EC4B6"/>
      </a:accent2>
      <a:accent3>
        <a:srgbClr val="FFC857"/>
      </a:accent3>
      <a:accent4>
        <a:srgbClr val="6C63FF"/>
      </a:accent4>
      <a:accent5>
        <a:srgbClr val="8A90B8"/>
      </a:accent5>
      <a:accent6>
        <a:srgbClr val="4A4E69"/>
      </a:accent6>
      <a:hlink>
        <a:srgbClr val="6C63FF"/>
      </a:hlink>
      <a:folHlink>
        <a:srgbClr val="8A90B8"/>
      </a:folHlink>
    </a:clrScheme>
    <a:fontScheme name="Descripto 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Descripto AI - Project Rename</dc:title>
  <dc:subject>PptxGenJS Presentation</dc:subject>
  <dc:creator>Descripto AI Team</dc:creator>
  <cp:lastModifiedBy>Descripto AI Team</cp:lastModifiedBy>
  <cp:revision>1</cp:revision>
  <dcterms:created xsi:type="dcterms:W3CDTF">2026-10-28T09:23:26Z</dcterms:created>
  <dcterms:modified xsi:type="dcterms:W3CDTF">2026-10-28T09:23:26Z</dcterms:modified>
</cp:coreProperties>
</file>